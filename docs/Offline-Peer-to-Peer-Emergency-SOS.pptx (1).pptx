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21"/>
    </p:embeddedFont>
    <p:embeddedFont>
      <p:font typeface="Open Sans" charset="1" panose="00000000000000000000"/>
      <p:regular r:id="rId22"/>
    </p:embeddedFont>
    <p:embeddedFont>
      <p:font typeface="Open Sans Bold" charset="1" panose="00000000000000000000"/>
      <p:regular r:id="rId23"/>
    </p:embeddedFont>
    <p:embeddedFont>
      <p:font typeface="Arimo" charset="1" panose="020B06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1.pn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24809" y="0"/>
            <a:ext cx="6863191" cy="10295039"/>
            <a:chOff x="0" y="0"/>
            <a:chExt cx="9150922" cy="1372671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9150922" cy="13726719"/>
              <a:chOff x="0" y="0"/>
              <a:chExt cx="9150922" cy="1372671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9150858" cy="13726668"/>
              </a:xfrm>
              <a:custGeom>
                <a:avLst/>
                <a:gdLst/>
                <a:ahLst/>
                <a:cxnLst/>
                <a:rect r="r" b="b" t="t" l="l"/>
                <a:pathLst>
                  <a:path h="13726668" w="9150858">
                    <a:moveTo>
                      <a:pt x="0" y="0"/>
                    </a:moveTo>
                    <a:lnTo>
                      <a:pt x="9150858" y="0"/>
                    </a:lnTo>
                    <a:lnTo>
                      <a:pt x="9150858" y="13726668"/>
                    </a:lnTo>
                    <a:lnTo>
                      <a:pt x="0" y="13726668"/>
                    </a:lnTo>
                    <a:close/>
                  </a:path>
                </a:pathLst>
              </a:custGeom>
              <a:solidFill>
                <a:srgbClr val="D6F5EE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0">
              <a:off x="151321" y="226987"/>
              <a:ext cx="8848268" cy="13272745"/>
              <a:chOff x="0" y="0"/>
              <a:chExt cx="8848268" cy="13272745"/>
            </a:xfrm>
          </p:grpSpPr>
          <p:sp>
            <p:nvSpPr>
              <p:cNvPr name="Freeform 10" id="10" descr="preencoded.png"/>
              <p:cNvSpPr/>
              <p:nvPr/>
            </p:nvSpPr>
            <p:spPr>
              <a:xfrm flipH="false" flipV="false" rot="0">
                <a:off x="0" y="0"/>
                <a:ext cx="8848217" cy="13272770"/>
              </a:xfrm>
              <a:custGeom>
                <a:avLst/>
                <a:gdLst/>
                <a:ahLst/>
                <a:cxnLst/>
                <a:rect r="r" b="b" t="t" l="l"/>
                <a:pathLst>
                  <a:path h="13272770" w="8848217">
                    <a:moveTo>
                      <a:pt x="0" y="0"/>
                    </a:moveTo>
                    <a:lnTo>
                      <a:pt x="8848217" y="0"/>
                    </a:lnTo>
                    <a:lnTo>
                      <a:pt x="8848217" y="13272770"/>
                    </a:lnTo>
                    <a:lnTo>
                      <a:pt x="0" y="1327277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" t="0" r="-1" b="0"/>
                </a:stretch>
              </a:blipFill>
            </p:spPr>
          </p:sp>
        </p:grpSp>
      </p:grpSp>
      <p:sp>
        <p:nvSpPr>
          <p:cNvPr name="TextBox 11" id="11"/>
          <p:cNvSpPr txBox="true"/>
          <p:nvPr/>
        </p:nvSpPr>
        <p:spPr>
          <a:xfrm rot="0">
            <a:off x="1084199" y="1973643"/>
            <a:ext cx="3381322" cy="1119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6"/>
              </a:lnSpc>
            </a:pPr>
            <a:r>
              <a:rPr lang="en-US" sz="69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Lifeline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055357"/>
            <a:ext cx="6182647" cy="195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sz="4025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Offline Peer-to-Peer Emergency SOS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0886" y="4422727"/>
            <a:ext cx="6789269" cy="824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9"/>
              </a:lnSpc>
            </a:pPr>
            <a:r>
              <a:rPr lang="en-US" sz="232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Decentralized Mesh Network for Disaster Scenarios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4199" y="5450624"/>
            <a:ext cx="3000116" cy="397535"/>
            <a:chOff x="0" y="0"/>
            <a:chExt cx="4000154" cy="53004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31731" cy="530047"/>
              <a:chOff x="0" y="0"/>
              <a:chExt cx="3131731" cy="53004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131820" cy="530098"/>
              </a:xfrm>
              <a:custGeom>
                <a:avLst/>
                <a:gdLst/>
                <a:ahLst/>
                <a:cxnLst/>
                <a:rect r="r" b="b" t="t" l="l"/>
                <a:pathLst>
                  <a:path h="530098" w="3131820">
                    <a:moveTo>
                      <a:pt x="0" y="101727"/>
                    </a:moveTo>
                    <a:cubicBezTo>
                      <a:pt x="0" y="45593"/>
                      <a:pt x="45593" y="0"/>
                      <a:pt x="101727" y="0"/>
                    </a:cubicBezTo>
                    <a:lnTo>
                      <a:pt x="3030093" y="0"/>
                    </a:lnTo>
                    <a:cubicBezTo>
                      <a:pt x="3086227" y="0"/>
                      <a:pt x="3131820" y="45593"/>
                      <a:pt x="3131820" y="101727"/>
                    </a:cubicBezTo>
                    <a:lnTo>
                      <a:pt x="3131820" y="428371"/>
                    </a:lnTo>
                    <a:cubicBezTo>
                      <a:pt x="3131820" y="484505"/>
                      <a:pt x="3086227" y="530098"/>
                      <a:pt x="3030093" y="530098"/>
                    </a:cubicBezTo>
                    <a:lnTo>
                      <a:pt x="101727" y="530098"/>
                    </a:lnTo>
                    <a:cubicBezTo>
                      <a:pt x="45593" y="530098"/>
                      <a:pt x="0" y="484505"/>
                      <a:pt x="0" y="428371"/>
                    </a:cubicBezTo>
                    <a:close/>
                  </a:path>
                </a:pathLst>
              </a:custGeom>
              <a:solidFill>
                <a:srgbClr val="D6F5EE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11325" y="62186"/>
              <a:ext cx="3988829" cy="377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53"/>
                </a:lnSpc>
              </a:pPr>
              <a:r>
                <a:rPr lang="en-US" sz="1426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PROJECT PRESENTATION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6286310"/>
            <a:ext cx="7849731" cy="2812171"/>
            <a:chOff x="0" y="0"/>
            <a:chExt cx="10466308" cy="374956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47625"/>
              <a:ext cx="10466308" cy="447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1979" b="true">
                  <a:solidFill>
                    <a:srgbClr val="333F7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Team Members: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664812"/>
              <a:ext cx="9542524" cy="2370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58583" indent="-179292" lvl="1">
                <a:lnSpc>
                  <a:spcPts val="2850"/>
                </a:lnSpc>
                <a:buFont typeface="Arial"/>
                <a:buChar char="•"/>
              </a:pPr>
              <a:r>
                <a:rPr lang="en-US" sz="1979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Prateek Mishra LCB2023031</a:t>
              </a:r>
            </a:p>
            <a:p>
              <a:pPr algn="l" marL="358583" indent="-179292" lvl="1">
                <a:lnSpc>
                  <a:spcPts val="2850"/>
                </a:lnSpc>
                <a:buFont typeface="Arial"/>
                <a:buChar char="•"/>
              </a:pPr>
              <a:r>
                <a:rPr lang="en-US" sz="1979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Eshant Gupta LCB2023016</a:t>
              </a:r>
            </a:p>
            <a:p>
              <a:pPr algn="l" marL="358583" indent="-179292" lvl="1">
                <a:lnSpc>
                  <a:spcPts val="2850"/>
                </a:lnSpc>
                <a:buFont typeface="Arial"/>
                <a:buChar char="•"/>
              </a:pPr>
              <a:r>
                <a:rPr lang="en-US" sz="1979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Prashik Humane LCB2023039</a:t>
              </a:r>
            </a:p>
            <a:p>
              <a:pPr algn="l" marL="358583" indent="-179292" lvl="1">
                <a:lnSpc>
                  <a:spcPts val="2850"/>
                </a:lnSpc>
                <a:buFont typeface="Arial"/>
                <a:buChar char="•"/>
              </a:pPr>
              <a:r>
                <a:rPr lang="en-US" sz="1979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Mayank LIT2023008</a:t>
              </a:r>
            </a:p>
            <a:p>
              <a:pPr algn="l" marL="358583" indent="-179292" lvl="1">
                <a:lnSpc>
                  <a:spcPts val="2850"/>
                </a:lnSpc>
                <a:buFont typeface="Arial"/>
                <a:buChar char="•"/>
              </a:pPr>
              <a:r>
                <a:rPr lang="en-US" sz="1979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Arun Kumar Swami LCB2023049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3299798"/>
              <a:ext cx="10466308" cy="4497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en-US" sz="1979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  <a:r>
                <a:rPr lang="en-US" sz="1979" b="true">
                  <a:solidFill>
                    <a:srgbClr val="333F7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Guided By</a:t>
              </a:r>
              <a:r>
                <a:rPr lang="en-US" sz="1979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: Dr. Sushil Tiwari Sir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0491" y="180670"/>
            <a:ext cx="6622209" cy="9933556"/>
            <a:chOff x="0" y="0"/>
            <a:chExt cx="8829612" cy="1324474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29548" cy="13244703"/>
            </a:xfrm>
            <a:custGeom>
              <a:avLst/>
              <a:gdLst/>
              <a:ahLst/>
              <a:cxnLst/>
              <a:rect r="r" b="b" t="t" l="l"/>
              <a:pathLst>
                <a:path h="13244703" w="8829548">
                  <a:moveTo>
                    <a:pt x="0" y="0"/>
                  </a:moveTo>
                  <a:lnTo>
                    <a:pt x="8829548" y="0"/>
                  </a:lnTo>
                  <a:lnTo>
                    <a:pt x="8829548" y="13244703"/>
                  </a:lnTo>
                  <a:lnTo>
                    <a:pt x="0" y="13244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2" r="0" b="-2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756075"/>
            <a:ext cx="6944658" cy="80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01"/>
              </a:lnSpc>
            </a:pPr>
            <a:r>
              <a:rPr lang="en-US" sz="47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7827578" y="1864785"/>
            <a:ext cx="9481271" cy="1752924"/>
          </a:xfrm>
          <a:custGeom>
            <a:avLst/>
            <a:gdLst/>
            <a:ahLst/>
            <a:cxnLst/>
            <a:rect r="r" b="b" t="t" l="l"/>
            <a:pathLst>
              <a:path h="1752924" w="9481271">
                <a:moveTo>
                  <a:pt x="0" y="0"/>
                </a:moveTo>
                <a:lnTo>
                  <a:pt x="9481271" y="0"/>
                </a:lnTo>
                <a:lnTo>
                  <a:pt x="9481271" y="1752924"/>
                </a:lnTo>
                <a:lnTo>
                  <a:pt x="0" y="175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211703" y="2105949"/>
            <a:ext cx="4857407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Vulnerable Infrastructure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11703" y="2586609"/>
            <a:ext cx="8827418" cy="76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Traditional communication relies heavily on centralized infrastructure — cell towers and ISPs — that can be easily disrupted.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7827578" y="3822659"/>
            <a:ext cx="9481271" cy="1752924"/>
          </a:xfrm>
          <a:custGeom>
            <a:avLst/>
            <a:gdLst/>
            <a:ahLst/>
            <a:cxnLst/>
            <a:rect r="r" b="b" t="t" l="l"/>
            <a:pathLst>
              <a:path h="1752924" w="9481271">
                <a:moveTo>
                  <a:pt x="0" y="0"/>
                </a:moveTo>
                <a:lnTo>
                  <a:pt x="9481271" y="0"/>
                </a:lnTo>
                <a:lnTo>
                  <a:pt x="9481271" y="1752924"/>
                </a:lnTo>
                <a:lnTo>
                  <a:pt x="0" y="175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211703" y="4063822"/>
            <a:ext cx="4246455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Blackout Scenario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11703" y="4544482"/>
            <a:ext cx="8827418" cy="76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During earthquakes, floods, or targeted blackouts, this infrastructure collapses entirely, cutting off all communication.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7827578" y="5780532"/>
            <a:ext cx="9481271" cy="1752924"/>
          </a:xfrm>
          <a:custGeom>
            <a:avLst/>
            <a:gdLst/>
            <a:ahLst/>
            <a:cxnLst/>
            <a:rect r="r" b="b" t="t" l="l"/>
            <a:pathLst>
              <a:path h="1752924" w="9481271">
                <a:moveTo>
                  <a:pt x="0" y="0"/>
                </a:moveTo>
                <a:lnTo>
                  <a:pt x="9481271" y="0"/>
                </a:lnTo>
                <a:lnTo>
                  <a:pt x="9481271" y="1752924"/>
                </a:lnTo>
                <a:lnTo>
                  <a:pt x="0" y="175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211703" y="6021695"/>
            <a:ext cx="5559209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Ineffective Existing Solutions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11703" y="6502356"/>
            <a:ext cx="8827418" cy="76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Standard SOS apps fail entirely without an active SIM card, cellular network, or Wi-Fi internet connection.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7827578" y="7738415"/>
            <a:ext cx="9481271" cy="1752924"/>
          </a:xfrm>
          <a:custGeom>
            <a:avLst/>
            <a:gdLst/>
            <a:ahLst/>
            <a:cxnLst/>
            <a:rect r="r" b="b" t="t" l="l"/>
            <a:pathLst>
              <a:path h="1752924" w="9481271">
                <a:moveTo>
                  <a:pt x="0" y="0"/>
                </a:moveTo>
                <a:lnTo>
                  <a:pt x="9481271" y="0"/>
                </a:lnTo>
                <a:lnTo>
                  <a:pt x="9481271" y="1752924"/>
                </a:lnTo>
                <a:lnTo>
                  <a:pt x="0" y="17529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2" r="0" b="-23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211703" y="7979578"/>
            <a:ext cx="3014710" cy="40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Result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11703" y="8460229"/>
            <a:ext cx="8827418" cy="761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9"/>
              </a:lnSpc>
            </a:pPr>
            <a:r>
              <a:rPr lang="en-US" sz="18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Victims are left isolated, and rescue teams lack coordinated data to locate them efficiently.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193" y="148800"/>
            <a:ext cx="6664804" cy="9997450"/>
            <a:chOff x="0" y="0"/>
            <a:chExt cx="8886406" cy="1332993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86444" cy="13329920"/>
            </a:xfrm>
            <a:custGeom>
              <a:avLst/>
              <a:gdLst/>
              <a:ahLst/>
              <a:cxnLst/>
              <a:rect r="r" b="b" t="t" l="l"/>
              <a:pathLst>
                <a:path h="13329920" w="8886444">
                  <a:moveTo>
                    <a:pt x="0" y="0"/>
                  </a:moveTo>
                  <a:lnTo>
                    <a:pt x="8886444" y="0"/>
                  </a:lnTo>
                  <a:lnTo>
                    <a:pt x="8886444" y="13329920"/>
                  </a:lnTo>
                  <a:lnTo>
                    <a:pt x="0" y="13329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856907"/>
            <a:ext cx="7297055" cy="65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Our Solution: Lifeline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1410" y="1719415"/>
            <a:ext cx="9462211" cy="1824276"/>
            <a:chOff x="0" y="0"/>
            <a:chExt cx="12616282" cy="2432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16180" cy="2432304"/>
            </a:xfrm>
            <a:custGeom>
              <a:avLst/>
              <a:gdLst/>
              <a:ahLst/>
              <a:cxnLst/>
              <a:rect r="r" b="b" t="t" l="l"/>
              <a:pathLst>
                <a:path h="2432304" w="1261618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12504420" y="0"/>
                  </a:lnTo>
                  <a:cubicBezTo>
                    <a:pt x="12566142" y="0"/>
                    <a:pt x="12616180" y="50038"/>
                    <a:pt x="12616180" y="111760"/>
                  </a:cubicBezTo>
                  <a:lnTo>
                    <a:pt x="12616180" y="2320544"/>
                  </a:lnTo>
                  <a:cubicBezTo>
                    <a:pt x="12616180" y="2382266"/>
                    <a:pt x="12566142" y="2432304"/>
                    <a:pt x="12504420" y="2432304"/>
                  </a:cubicBezTo>
                  <a:lnTo>
                    <a:pt x="111760" y="2432304"/>
                  </a:lnTo>
                  <a:cubicBezTo>
                    <a:pt x="50038" y="2432304"/>
                    <a:pt x="0" y="2382266"/>
                    <a:pt x="0" y="2320544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064246" y="1932261"/>
            <a:ext cx="595760" cy="595779"/>
            <a:chOff x="0" y="0"/>
            <a:chExt cx="794347" cy="7943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94385" cy="794258"/>
            </a:xfrm>
            <a:custGeom>
              <a:avLst/>
              <a:gdLst/>
              <a:ahLst/>
              <a:cxnLst/>
              <a:rect r="r" b="b" t="t" l="l"/>
              <a:pathLst>
                <a:path h="794258" w="794385">
                  <a:moveTo>
                    <a:pt x="0" y="397129"/>
                  </a:moveTo>
                  <a:cubicBezTo>
                    <a:pt x="0" y="177800"/>
                    <a:pt x="177800" y="0"/>
                    <a:pt x="397129" y="0"/>
                  </a:cubicBezTo>
                  <a:cubicBezTo>
                    <a:pt x="616458" y="0"/>
                    <a:pt x="794385" y="177800"/>
                    <a:pt x="794385" y="397129"/>
                  </a:cubicBezTo>
                  <a:cubicBezTo>
                    <a:pt x="794385" y="616458"/>
                    <a:pt x="616585" y="794258"/>
                    <a:pt x="397256" y="794258"/>
                  </a:cubicBezTo>
                  <a:cubicBezTo>
                    <a:pt x="177927" y="794258"/>
                    <a:pt x="0" y="616585"/>
                    <a:pt x="0" y="397256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8228086" y="2096091"/>
            <a:ext cx="268091" cy="268100"/>
          </a:xfrm>
          <a:custGeom>
            <a:avLst/>
            <a:gdLst/>
            <a:ahLst/>
            <a:cxnLst/>
            <a:rect r="r" b="b" t="t" l="l"/>
            <a:pathLst>
              <a:path h="268100" w="268091">
                <a:moveTo>
                  <a:pt x="0" y="0"/>
                </a:moveTo>
                <a:lnTo>
                  <a:pt x="268090" y="0"/>
                </a:lnTo>
                <a:lnTo>
                  <a:pt x="268090" y="268100"/>
                </a:lnTo>
                <a:lnTo>
                  <a:pt x="0" y="268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" t="0" r="-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064246" y="2638425"/>
            <a:ext cx="4605699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100% Offline Communication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64246" y="3041609"/>
            <a:ext cx="9036529" cy="28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Functions entirely without cellular networks or the internet.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851410" y="3673116"/>
            <a:ext cx="9462211" cy="1824276"/>
            <a:chOff x="0" y="0"/>
            <a:chExt cx="12616282" cy="24323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16180" cy="2432304"/>
            </a:xfrm>
            <a:custGeom>
              <a:avLst/>
              <a:gdLst/>
              <a:ahLst/>
              <a:cxnLst/>
              <a:rect r="r" b="b" t="t" l="l"/>
              <a:pathLst>
                <a:path h="2432304" w="1261618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12504420" y="0"/>
                  </a:lnTo>
                  <a:cubicBezTo>
                    <a:pt x="12566142" y="0"/>
                    <a:pt x="12616180" y="50038"/>
                    <a:pt x="12616180" y="111760"/>
                  </a:cubicBezTo>
                  <a:lnTo>
                    <a:pt x="12616180" y="2320544"/>
                  </a:lnTo>
                  <a:cubicBezTo>
                    <a:pt x="12616180" y="2382266"/>
                    <a:pt x="12566142" y="2432304"/>
                    <a:pt x="12504420" y="2432304"/>
                  </a:cubicBezTo>
                  <a:lnTo>
                    <a:pt x="111760" y="2432304"/>
                  </a:lnTo>
                  <a:cubicBezTo>
                    <a:pt x="50038" y="2432304"/>
                    <a:pt x="0" y="2382266"/>
                    <a:pt x="0" y="2320544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064246" y="3885962"/>
            <a:ext cx="595760" cy="595779"/>
            <a:chOff x="0" y="0"/>
            <a:chExt cx="794347" cy="7943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4385" cy="794258"/>
            </a:xfrm>
            <a:custGeom>
              <a:avLst/>
              <a:gdLst/>
              <a:ahLst/>
              <a:cxnLst/>
              <a:rect r="r" b="b" t="t" l="l"/>
              <a:pathLst>
                <a:path h="794258" w="794385">
                  <a:moveTo>
                    <a:pt x="0" y="397129"/>
                  </a:moveTo>
                  <a:cubicBezTo>
                    <a:pt x="0" y="177800"/>
                    <a:pt x="177800" y="0"/>
                    <a:pt x="397129" y="0"/>
                  </a:cubicBezTo>
                  <a:cubicBezTo>
                    <a:pt x="616458" y="0"/>
                    <a:pt x="794385" y="177800"/>
                    <a:pt x="794385" y="397129"/>
                  </a:cubicBezTo>
                  <a:cubicBezTo>
                    <a:pt x="794385" y="616458"/>
                    <a:pt x="616585" y="794258"/>
                    <a:pt x="397256" y="794258"/>
                  </a:cubicBezTo>
                  <a:cubicBezTo>
                    <a:pt x="177927" y="794258"/>
                    <a:pt x="0" y="616585"/>
                    <a:pt x="0" y="397256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8228086" y="4049801"/>
            <a:ext cx="268091" cy="268100"/>
          </a:xfrm>
          <a:custGeom>
            <a:avLst/>
            <a:gdLst/>
            <a:ahLst/>
            <a:cxnLst/>
            <a:rect r="r" b="b" t="t" l="l"/>
            <a:pathLst>
              <a:path h="268100" w="268091">
                <a:moveTo>
                  <a:pt x="0" y="0"/>
                </a:moveTo>
                <a:lnTo>
                  <a:pt x="268090" y="0"/>
                </a:lnTo>
                <a:lnTo>
                  <a:pt x="268090" y="268101"/>
                </a:lnTo>
                <a:lnTo>
                  <a:pt x="0" y="2681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449" t="0" r="-3449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064246" y="4592126"/>
            <a:ext cx="5002473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Decentralized Mesh Networking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64246" y="4995310"/>
            <a:ext cx="9036529" cy="28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Connects devices directly using Bluetooth Low Energy (BLE) and Wi-Fi Direct.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851410" y="5626827"/>
            <a:ext cx="9462211" cy="1824276"/>
            <a:chOff x="0" y="0"/>
            <a:chExt cx="12616282" cy="24323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16180" cy="2432304"/>
            </a:xfrm>
            <a:custGeom>
              <a:avLst/>
              <a:gdLst/>
              <a:ahLst/>
              <a:cxnLst/>
              <a:rect r="r" b="b" t="t" l="l"/>
              <a:pathLst>
                <a:path h="2432304" w="1261618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12504420" y="0"/>
                  </a:lnTo>
                  <a:cubicBezTo>
                    <a:pt x="12566142" y="0"/>
                    <a:pt x="12616180" y="50038"/>
                    <a:pt x="12616180" y="111760"/>
                  </a:cubicBezTo>
                  <a:lnTo>
                    <a:pt x="12616180" y="2320544"/>
                  </a:lnTo>
                  <a:cubicBezTo>
                    <a:pt x="12616180" y="2382266"/>
                    <a:pt x="12566142" y="2432304"/>
                    <a:pt x="12504420" y="2432304"/>
                  </a:cubicBezTo>
                  <a:lnTo>
                    <a:pt x="111760" y="2432304"/>
                  </a:lnTo>
                  <a:cubicBezTo>
                    <a:pt x="50038" y="2432304"/>
                    <a:pt x="0" y="2382266"/>
                    <a:pt x="0" y="2320544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8064246" y="5839663"/>
            <a:ext cx="595760" cy="595779"/>
            <a:chOff x="0" y="0"/>
            <a:chExt cx="794347" cy="7943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94385" cy="794258"/>
            </a:xfrm>
            <a:custGeom>
              <a:avLst/>
              <a:gdLst/>
              <a:ahLst/>
              <a:cxnLst/>
              <a:rect r="r" b="b" t="t" l="l"/>
              <a:pathLst>
                <a:path h="794258" w="794385">
                  <a:moveTo>
                    <a:pt x="0" y="397129"/>
                  </a:moveTo>
                  <a:cubicBezTo>
                    <a:pt x="0" y="177800"/>
                    <a:pt x="177800" y="0"/>
                    <a:pt x="397129" y="0"/>
                  </a:cubicBezTo>
                  <a:cubicBezTo>
                    <a:pt x="616458" y="0"/>
                    <a:pt x="794385" y="177800"/>
                    <a:pt x="794385" y="397129"/>
                  </a:cubicBezTo>
                  <a:cubicBezTo>
                    <a:pt x="794385" y="616458"/>
                    <a:pt x="616585" y="794258"/>
                    <a:pt x="397256" y="794258"/>
                  </a:cubicBezTo>
                  <a:cubicBezTo>
                    <a:pt x="177927" y="794258"/>
                    <a:pt x="0" y="616585"/>
                    <a:pt x="0" y="397256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8228086" y="6003503"/>
            <a:ext cx="268091" cy="268100"/>
          </a:xfrm>
          <a:custGeom>
            <a:avLst/>
            <a:gdLst/>
            <a:ahLst/>
            <a:cxnLst/>
            <a:rect r="r" b="b" t="t" l="l"/>
            <a:pathLst>
              <a:path h="268100" w="268091">
                <a:moveTo>
                  <a:pt x="0" y="0"/>
                </a:moveTo>
                <a:lnTo>
                  <a:pt x="268090" y="0"/>
                </a:lnTo>
                <a:lnTo>
                  <a:pt x="268090" y="268100"/>
                </a:lnTo>
                <a:lnTo>
                  <a:pt x="0" y="2681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726" t="0" r="-1726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064246" y="6545837"/>
            <a:ext cx="3703415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Multi-Hop Relay System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64246" y="6949021"/>
            <a:ext cx="9036529" cy="28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SOS signals "hop" from phone to phone, expanding the rescue radius infinitely.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851410" y="7580528"/>
            <a:ext cx="9462211" cy="1824276"/>
            <a:chOff x="0" y="0"/>
            <a:chExt cx="12616282" cy="2432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616180" cy="2432304"/>
            </a:xfrm>
            <a:custGeom>
              <a:avLst/>
              <a:gdLst/>
              <a:ahLst/>
              <a:cxnLst/>
              <a:rect r="r" b="b" t="t" l="l"/>
              <a:pathLst>
                <a:path h="2432304" w="12616180">
                  <a:moveTo>
                    <a:pt x="0" y="111760"/>
                  </a:moveTo>
                  <a:cubicBezTo>
                    <a:pt x="0" y="50038"/>
                    <a:pt x="50038" y="0"/>
                    <a:pt x="111760" y="0"/>
                  </a:cubicBezTo>
                  <a:lnTo>
                    <a:pt x="12504420" y="0"/>
                  </a:lnTo>
                  <a:cubicBezTo>
                    <a:pt x="12566142" y="0"/>
                    <a:pt x="12616180" y="50038"/>
                    <a:pt x="12616180" y="111760"/>
                  </a:cubicBezTo>
                  <a:lnTo>
                    <a:pt x="12616180" y="2320544"/>
                  </a:lnTo>
                  <a:cubicBezTo>
                    <a:pt x="12616180" y="2382266"/>
                    <a:pt x="12566142" y="2432304"/>
                    <a:pt x="12504420" y="2432304"/>
                  </a:cubicBezTo>
                  <a:lnTo>
                    <a:pt x="111760" y="2432304"/>
                  </a:lnTo>
                  <a:cubicBezTo>
                    <a:pt x="50038" y="2432304"/>
                    <a:pt x="0" y="2382266"/>
                    <a:pt x="0" y="2320544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8064246" y="7793374"/>
            <a:ext cx="595760" cy="595779"/>
            <a:chOff x="0" y="0"/>
            <a:chExt cx="794347" cy="7943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94385" cy="794258"/>
            </a:xfrm>
            <a:custGeom>
              <a:avLst/>
              <a:gdLst/>
              <a:ahLst/>
              <a:cxnLst/>
              <a:rect r="r" b="b" t="t" l="l"/>
              <a:pathLst>
                <a:path h="794258" w="794385">
                  <a:moveTo>
                    <a:pt x="0" y="397129"/>
                  </a:moveTo>
                  <a:cubicBezTo>
                    <a:pt x="0" y="177800"/>
                    <a:pt x="177800" y="0"/>
                    <a:pt x="397129" y="0"/>
                  </a:cubicBezTo>
                  <a:cubicBezTo>
                    <a:pt x="616458" y="0"/>
                    <a:pt x="794385" y="177800"/>
                    <a:pt x="794385" y="397129"/>
                  </a:cubicBezTo>
                  <a:cubicBezTo>
                    <a:pt x="794385" y="616458"/>
                    <a:pt x="616585" y="794258"/>
                    <a:pt x="397256" y="794258"/>
                  </a:cubicBezTo>
                  <a:cubicBezTo>
                    <a:pt x="177927" y="794258"/>
                    <a:pt x="0" y="616585"/>
                    <a:pt x="0" y="397256"/>
                  </a:cubicBez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8228086" y="7957214"/>
            <a:ext cx="268091" cy="268100"/>
          </a:xfrm>
          <a:custGeom>
            <a:avLst/>
            <a:gdLst/>
            <a:ahLst/>
            <a:cxnLst/>
            <a:rect r="r" b="b" t="t" l="l"/>
            <a:pathLst>
              <a:path h="268100" w="268091">
                <a:moveTo>
                  <a:pt x="0" y="0"/>
                </a:moveTo>
                <a:lnTo>
                  <a:pt x="268090" y="0"/>
                </a:lnTo>
                <a:lnTo>
                  <a:pt x="268090" y="268100"/>
                </a:lnTo>
                <a:lnTo>
                  <a:pt x="0" y="2681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1033" r="0" b="-31029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8064246" y="8499539"/>
            <a:ext cx="2482691" cy="33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Core Concept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064246" y="8902722"/>
            <a:ext cx="9036529" cy="289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5"/>
              </a:lnSpc>
            </a:pPr>
            <a:r>
              <a:rPr lang="en-US" sz="15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Every smartphone becomes a temporary cell tower/relay node.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966378"/>
            <a:ext cx="12318292" cy="70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 &amp; Tech Stack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76358" y="2954760"/>
            <a:ext cx="5289633" cy="5289766"/>
            <a:chOff x="0" y="0"/>
            <a:chExt cx="7052843" cy="7053021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052818" cy="7053072"/>
            </a:xfrm>
            <a:custGeom>
              <a:avLst/>
              <a:gdLst/>
              <a:ahLst/>
              <a:cxnLst/>
              <a:rect r="r" b="b" t="t" l="l"/>
              <a:pathLst>
                <a:path h="7053072" w="7052818">
                  <a:moveTo>
                    <a:pt x="0" y="0"/>
                  </a:moveTo>
                  <a:lnTo>
                    <a:pt x="7052818" y="0"/>
                  </a:lnTo>
                  <a:lnTo>
                    <a:pt x="7052818" y="7053072"/>
                  </a:lnTo>
                  <a:lnTo>
                    <a:pt x="0" y="7053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8578244" y="2088347"/>
            <a:ext cx="8739997" cy="1276902"/>
          </a:xfrm>
          <a:custGeom>
            <a:avLst/>
            <a:gdLst/>
            <a:ahLst/>
            <a:cxnLst/>
            <a:rect r="r" b="b" t="t" l="l"/>
            <a:pathLst>
              <a:path h="1276902" w="8739997">
                <a:moveTo>
                  <a:pt x="0" y="0"/>
                </a:moveTo>
                <a:lnTo>
                  <a:pt x="8739997" y="0"/>
                </a:lnTo>
                <a:lnTo>
                  <a:pt x="8739997" y="1276902"/>
                </a:lnTo>
                <a:lnTo>
                  <a:pt x="0" y="127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8" r="0" b="-328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8868080" y="2567207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" t="0" r="-1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17554" y="2310594"/>
            <a:ext cx="2660085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Language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17554" y="2783500"/>
            <a:ext cx="7459399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Kotlin (MVVM Architecture)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8578244" y="3524774"/>
            <a:ext cx="8739997" cy="1276902"/>
          </a:xfrm>
          <a:custGeom>
            <a:avLst/>
            <a:gdLst/>
            <a:ahLst/>
            <a:cxnLst/>
            <a:rect r="r" b="b" t="t" l="l"/>
            <a:pathLst>
              <a:path h="1276902" w="8739997">
                <a:moveTo>
                  <a:pt x="0" y="0"/>
                </a:moveTo>
                <a:lnTo>
                  <a:pt x="8739997" y="0"/>
                </a:lnTo>
                <a:lnTo>
                  <a:pt x="8739997" y="1276902"/>
                </a:lnTo>
                <a:lnTo>
                  <a:pt x="0" y="127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8" r="0" b="-328"/>
            </a:stretch>
          </a:blipFill>
        </p:spPr>
      </p:sp>
      <p:sp>
        <p:nvSpPr>
          <p:cNvPr name="Freeform 14" id="14" descr="preencoded.png"/>
          <p:cNvSpPr/>
          <p:nvPr/>
        </p:nvSpPr>
        <p:spPr>
          <a:xfrm flipH="false" flipV="false" rot="0">
            <a:off x="8868080" y="4003624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7353" t="0" r="-7356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17554" y="3747011"/>
            <a:ext cx="2829277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Core Networking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17554" y="4219927"/>
            <a:ext cx="7459399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Google Nearby Connections API (P2P_CLUSTER strategy)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8578244" y="4961192"/>
            <a:ext cx="8739997" cy="1276902"/>
          </a:xfrm>
          <a:custGeom>
            <a:avLst/>
            <a:gdLst/>
            <a:ahLst/>
            <a:cxnLst/>
            <a:rect r="r" b="b" t="t" l="l"/>
            <a:pathLst>
              <a:path h="1276902" w="8739997">
                <a:moveTo>
                  <a:pt x="0" y="0"/>
                </a:moveTo>
                <a:lnTo>
                  <a:pt x="8739997" y="0"/>
                </a:lnTo>
                <a:lnTo>
                  <a:pt x="8739997" y="1276902"/>
                </a:lnTo>
                <a:lnTo>
                  <a:pt x="0" y="1276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8" r="0" b="-328"/>
            </a:stretch>
          </a:blipFill>
        </p:spPr>
      </p:sp>
      <p:sp>
        <p:nvSpPr>
          <p:cNvPr name="Freeform 18" id="18" descr="preencoded.png"/>
          <p:cNvSpPr/>
          <p:nvPr/>
        </p:nvSpPr>
        <p:spPr>
          <a:xfrm flipH="false" flipV="false" rot="0">
            <a:off x="8868080" y="5440051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3"/>
                </a:lnTo>
                <a:lnTo>
                  <a:pt x="0" y="319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4410" r="0" b="-4407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17554" y="5183429"/>
            <a:ext cx="2970028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Local Persistence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17554" y="5656345"/>
            <a:ext cx="7459399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Android Room Database (SQLite)</a:t>
            </a:r>
          </a:p>
        </p:txBody>
      </p:sp>
      <p:sp>
        <p:nvSpPr>
          <p:cNvPr name="Freeform 21" id="21" descr="preencoded.png"/>
          <p:cNvSpPr/>
          <p:nvPr/>
        </p:nvSpPr>
        <p:spPr>
          <a:xfrm flipH="false" flipV="false" rot="0">
            <a:off x="8578244" y="6397609"/>
            <a:ext cx="8739997" cy="1276902"/>
          </a:xfrm>
          <a:custGeom>
            <a:avLst/>
            <a:gdLst/>
            <a:ahLst/>
            <a:cxnLst/>
            <a:rect r="r" b="b" t="t" l="l"/>
            <a:pathLst>
              <a:path h="1276902" w="8739997">
                <a:moveTo>
                  <a:pt x="0" y="0"/>
                </a:moveTo>
                <a:lnTo>
                  <a:pt x="8739997" y="0"/>
                </a:lnTo>
                <a:lnTo>
                  <a:pt x="8739997" y="1276903"/>
                </a:lnTo>
                <a:lnTo>
                  <a:pt x="0" y="1276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8" r="0" b="-328"/>
            </a:stretch>
          </a:blipFill>
        </p:spPr>
      </p:sp>
      <p:sp>
        <p:nvSpPr>
          <p:cNvPr name="Freeform 22" id="22" descr="preencoded.png"/>
          <p:cNvSpPr/>
          <p:nvPr/>
        </p:nvSpPr>
        <p:spPr>
          <a:xfrm flipH="false" flipV="false" rot="0">
            <a:off x="8868080" y="6876469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23526" r="0" b="-23526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617554" y="6619856"/>
            <a:ext cx="2660085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Mapping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17554" y="7092763"/>
            <a:ext cx="7459399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osmdroid (Cached Offline Maps)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8578244" y="7834036"/>
            <a:ext cx="8739997" cy="1276902"/>
          </a:xfrm>
          <a:custGeom>
            <a:avLst/>
            <a:gdLst/>
            <a:ahLst/>
            <a:cxnLst/>
            <a:rect r="r" b="b" t="t" l="l"/>
            <a:pathLst>
              <a:path h="1276902" w="8739997">
                <a:moveTo>
                  <a:pt x="0" y="0"/>
                </a:moveTo>
                <a:lnTo>
                  <a:pt x="8739997" y="0"/>
                </a:lnTo>
                <a:lnTo>
                  <a:pt x="8739997" y="1276903"/>
                </a:lnTo>
                <a:lnTo>
                  <a:pt x="0" y="12769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28" r="0" b="-328"/>
            </a:stretch>
          </a:blipFill>
        </p:spPr>
      </p:sp>
      <p:sp>
        <p:nvSpPr>
          <p:cNvPr name="Freeform 26" id="26" descr="preencoded.png"/>
          <p:cNvSpPr/>
          <p:nvPr/>
        </p:nvSpPr>
        <p:spPr>
          <a:xfrm flipH="false" flipV="false" rot="0">
            <a:off x="8868080" y="8312887"/>
            <a:ext cx="319183" cy="319192"/>
          </a:xfrm>
          <a:custGeom>
            <a:avLst/>
            <a:gdLst/>
            <a:ahLst/>
            <a:cxnLst/>
            <a:rect r="r" b="b" t="t" l="l"/>
            <a:pathLst>
              <a:path h="319192" w="319183">
                <a:moveTo>
                  <a:pt x="0" y="0"/>
                </a:moveTo>
                <a:lnTo>
                  <a:pt x="319183" y="0"/>
                </a:lnTo>
                <a:lnTo>
                  <a:pt x="319183" y="319192"/>
                </a:lnTo>
                <a:lnTo>
                  <a:pt x="0" y="3191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19119" t="0" r="-19116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617554" y="8056274"/>
            <a:ext cx="2660085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Cloud Fallback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17554" y="8529190"/>
            <a:ext cx="7459399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Firebase Firestore &amp; WorkManager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89530"/>
            <a:ext cx="14932352" cy="890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sz="52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How the Mesh Network Operates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124029" y="2291658"/>
            <a:ext cx="12053630" cy="5516604"/>
            <a:chOff x="0" y="0"/>
            <a:chExt cx="16071507" cy="735547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071469" cy="7355459"/>
            </a:xfrm>
            <a:custGeom>
              <a:avLst/>
              <a:gdLst/>
              <a:ahLst/>
              <a:cxnLst/>
              <a:rect r="r" b="b" t="t" l="l"/>
              <a:pathLst>
                <a:path h="7355459" w="16071469">
                  <a:moveTo>
                    <a:pt x="0" y="0"/>
                  </a:moveTo>
                  <a:lnTo>
                    <a:pt x="16071469" y="0"/>
                  </a:lnTo>
                  <a:lnTo>
                    <a:pt x="16071469" y="7355459"/>
                  </a:lnTo>
                  <a:lnTo>
                    <a:pt x="0" y="7355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0" b="-3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353506" y="6469666"/>
            <a:ext cx="2262950" cy="46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7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Audio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01568" y="6469666"/>
            <a:ext cx="2262940" cy="46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7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Relay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65138" y="6251705"/>
            <a:ext cx="2262950" cy="90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7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Auto-Accept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66709" y="6469666"/>
            <a:ext cx="2262950" cy="464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702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Advertise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991" y="8029651"/>
            <a:ext cx="16315868" cy="1328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sz="21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mesh operates through four key stages: devices simultaneously advertise and discover nearby peers, automatically accept connections in emergency mode, relay new SOS payloads to all connected peers, and support short voice recordings via byte-array transmission.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64533"/>
            <a:ext cx="7898330" cy="1368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Real-Time Mesh Synchronization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945225"/>
            <a:ext cx="7898330" cy="28594"/>
            <a:chOff x="0" y="0"/>
            <a:chExt cx="10531107" cy="381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31094" cy="38100"/>
            </a:xfrm>
            <a:custGeom>
              <a:avLst/>
              <a:gdLst/>
              <a:ahLst/>
              <a:cxnLst/>
              <a:rect r="r" b="b" t="t" l="l"/>
              <a:pathLst>
                <a:path h="38100" w="10531094">
                  <a:moveTo>
                    <a:pt x="0" y="0"/>
                  </a:moveTo>
                  <a:lnTo>
                    <a:pt x="10531094" y="0"/>
                  </a:lnTo>
                  <a:lnTo>
                    <a:pt x="105310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991" y="3089720"/>
            <a:ext cx="3307375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Live Demonstration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991" y="3562636"/>
            <a:ext cx="7898330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interface running side-by-side on two separate devices.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991" y="4550702"/>
            <a:ext cx="7898330" cy="28594"/>
            <a:chOff x="0" y="0"/>
            <a:chExt cx="10531107" cy="381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31094" cy="38100"/>
            </a:xfrm>
            <a:custGeom>
              <a:avLst/>
              <a:gdLst/>
              <a:ahLst/>
              <a:cxnLst/>
              <a:rect r="r" b="b" t="t" l="l"/>
              <a:pathLst>
                <a:path h="38100" w="10531094">
                  <a:moveTo>
                    <a:pt x="0" y="0"/>
                  </a:moveTo>
                  <a:lnTo>
                    <a:pt x="10531094" y="0"/>
                  </a:lnTo>
                  <a:lnTo>
                    <a:pt x="105310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991" y="4695196"/>
            <a:ext cx="2743933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Peer Connection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5168103"/>
            <a:ext cx="7898330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Top right indicator shows </a:t>
            </a:r>
            <a:r>
              <a:rPr lang="en-US" sz="16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peer connected</a:t>
            </a: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confirming the offline mesh.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6156169"/>
            <a:ext cx="7898330" cy="28594"/>
            <a:chOff x="0" y="0"/>
            <a:chExt cx="10531107" cy="381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31094" cy="38100"/>
            </a:xfrm>
            <a:custGeom>
              <a:avLst/>
              <a:gdLst/>
              <a:ahLst/>
              <a:cxnLst/>
              <a:rect r="r" b="b" t="t" l="l"/>
              <a:pathLst>
                <a:path h="38100" w="10531094">
                  <a:moveTo>
                    <a:pt x="0" y="0"/>
                  </a:moveTo>
                  <a:lnTo>
                    <a:pt x="10531094" y="0"/>
                  </a:lnTo>
                  <a:lnTo>
                    <a:pt x="105310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92991" y="6300664"/>
            <a:ext cx="2925794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Context-Aware UI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991" y="6773580"/>
            <a:ext cx="7898330" cy="63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The interface dynamically shifts between </a:t>
            </a:r>
            <a:r>
              <a:rPr lang="en-US" sz="16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SAFE</a:t>
            </a: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lang="en-US" sz="16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TRAPPED</a:t>
            </a: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based on user status.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92991" y="8059531"/>
            <a:ext cx="7898330" cy="28594"/>
            <a:chOff x="0" y="0"/>
            <a:chExt cx="10531107" cy="381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31094" cy="38100"/>
            </a:xfrm>
            <a:custGeom>
              <a:avLst/>
              <a:gdLst/>
              <a:ahLst/>
              <a:cxnLst/>
              <a:rect r="r" b="b" t="t" l="l"/>
              <a:pathLst>
                <a:path h="38100" w="10531094">
                  <a:moveTo>
                    <a:pt x="0" y="0"/>
                  </a:moveTo>
                  <a:lnTo>
                    <a:pt x="10531094" y="0"/>
                  </a:lnTo>
                  <a:lnTo>
                    <a:pt x="105310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92991" y="8204025"/>
            <a:ext cx="3363230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Synchronized Feeds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991" y="8676942"/>
            <a:ext cx="7898330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Both devices display identical distress signals without internet.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847060" y="1584922"/>
            <a:ext cx="5044326" cy="7566679"/>
            <a:chOff x="0" y="0"/>
            <a:chExt cx="6725768" cy="10088905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6725793" cy="10088880"/>
            </a:xfrm>
            <a:custGeom>
              <a:avLst/>
              <a:gdLst/>
              <a:ahLst/>
              <a:cxnLst/>
              <a:rect r="r" b="b" t="t" l="l"/>
              <a:pathLst>
                <a:path h="10088880" w="6725793">
                  <a:moveTo>
                    <a:pt x="0" y="0"/>
                  </a:moveTo>
                  <a:lnTo>
                    <a:pt x="6725793" y="0"/>
                  </a:lnTo>
                  <a:lnTo>
                    <a:pt x="6725793" y="10088880"/>
                  </a:lnTo>
                  <a:lnTo>
                    <a:pt x="0" y="10088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0" r="0" b="-3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21746005" cy="10295039"/>
            <a:chOff x="0" y="0"/>
            <a:chExt cx="28994673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994627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8994627">
                  <a:moveTo>
                    <a:pt x="0" y="0"/>
                  </a:moveTo>
                  <a:lnTo>
                    <a:pt x="28994627" y="0"/>
                  </a:lnTo>
                  <a:lnTo>
                    <a:pt x="28994627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645" y="191395"/>
            <a:ext cx="6607902" cy="9912106"/>
            <a:chOff x="0" y="0"/>
            <a:chExt cx="8810536" cy="13216141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810498" cy="13216128"/>
            </a:xfrm>
            <a:custGeom>
              <a:avLst/>
              <a:gdLst/>
              <a:ahLst/>
              <a:cxnLst/>
              <a:rect r="r" b="b" t="t" l="l"/>
              <a:pathLst>
                <a:path h="13216128" w="8810498">
                  <a:moveTo>
                    <a:pt x="0" y="0"/>
                  </a:moveTo>
                  <a:lnTo>
                    <a:pt x="8810498" y="0"/>
                  </a:lnTo>
                  <a:lnTo>
                    <a:pt x="8810498" y="13216128"/>
                  </a:lnTo>
                  <a:lnTo>
                    <a:pt x="0" y="13216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1026862"/>
            <a:ext cx="9452677" cy="1643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2"/>
              </a:lnSpc>
            </a:pPr>
            <a:r>
              <a:rPr lang="en-US" sz="495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Spatial Awareness: Offline Mapping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1410" y="3010462"/>
            <a:ext cx="583997" cy="584016"/>
            <a:chOff x="0" y="0"/>
            <a:chExt cx="778662" cy="778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8637" cy="778764"/>
            </a:xfrm>
            <a:custGeom>
              <a:avLst/>
              <a:gdLst/>
              <a:ahLst/>
              <a:cxnLst/>
              <a:rect r="r" b="b" t="t" l="l"/>
              <a:pathLst>
                <a:path h="778764" w="778637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633222" y="0"/>
                  </a:lnTo>
                  <a:cubicBezTo>
                    <a:pt x="713486" y="0"/>
                    <a:pt x="778637" y="65151"/>
                    <a:pt x="778637" y="145415"/>
                  </a:cubicBezTo>
                  <a:lnTo>
                    <a:pt x="778637" y="633349"/>
                  </a:lnTo>
                  <a:cubicBezTo>
                    <a:pt x="778637" y="713613"/>
                    <a:pt x="713486" y="778764"/>
                    <a:pt x="633222" y="778764"/>
                  </a:cubicBezTo>
                  <a:lnTo>
                    <a:pt x="145415" y="778764"/>
                  </a:lnTo>
                  <a:cubicBezTo>
                    <a:pt x="65151" y="778637"/>
                    <a:pt x="0" y="713613"/>
                    <a:pt x="0" y="633349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660454" y="3083909"/>
            <a:ext cx="3192094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Crucial Need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60454" y="3572932"/>
            <a:ext cx="8648395" cy="45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Rescuers need visual context, not just raw GPS coordinates.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51410" y="4482636"/>
            <a:ext cx="583997" cy="584016"/>
            <a:chOff x="0" y="0"/>
            <a:chExt cx="778662" cy="7786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8637" cy="778764"/>
            </a:xfrm>
            <a:custGeom>
              <a:avLst/>
              <a:gdLst/>
              <a:ahLst/>
              <a:cxnLst/>
              <a:rect r="r" b="b" t="t" l="l"/>
              <a:pathLst>
                <a:path h="778764" w="778637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633222" y="0"/>
                  </a:lnTo>
                  <a:cubicBezTo>
                    <a:pt x="713486" y="0"/>
                    <a:pt x="778637" y="65151"/>
                    <a:pt x="778637" y="145415"/>
                  </a:cubicBezTo>
                  <a:lnTo>
                    <a:pt x="778637" y="633349"/>
                  </a:lnTo>
                  <a:cubicBezTo>
                    <a:pt x="778637" y="713613"/>
                    <a:pt x="713486" y="778764"/>
                    <a:pt x="633222" y="778764"/>
                  </a:cubicBezTo>
                  <a:lnTo>
                    <a:pt x="145415" y="778764"/>
                  </a:lnTo>
                  <a:cubicBezTo>
                    <a:pt x="65151" y="778637"/>
                    <a:pt x="0" y="713613"/>
                    <a:pt x="0" y="633349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8660454" y="4556074"/>
            <a:ext cx="5448405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Implementation (osmdroid)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60454" y="5045097"/>
            <a:ext cx="8648395" cy="45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Uses locally cached map tiles to render environments without API calls.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51410" y="5954801"/>
            <a:ext cx="583997" cy="584016"/>
            <a:chOff x="0" y="0"/>
            <a:chExt cx="778662" cy="7786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8637" cy="778764"/>
            </a:xfrm>
            <a:custGeom>
              <a:avLst/>
              <a:gdLst/>
              <a:ahLst/>
              <a:cxnLst/>
              <a:rect r="r" b="b" t="t" l="l"/>
              <a:pathLst>
                <a:path h="778764" w="778637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633222" y="0"/>
                  </a:lnTo>
                  <a:cubicBezTo>
                    <a:pt x="713486" y="0"/>
                    <a:pt x="778637" y="65151"/>
                    <a:pt x="778637" y="145415"/>
                  </a:cubicBezTo>
                  <a:lnTo>
                    <a:pt x="778637" y="633349"/>
                  </a:lnTo>
                  <a:cubicBezTo>
                    <a:pt x="778637" y="713613"/>
                    <a:pt x="713486" y="778764"/>
                    <a:pt x="633222" y="778764"/>
                  </a:cubicBezTo>
                  <a:lnTo>
                    <a:pt x="145415" y="778764"/>
                  </a:lnTo>
                  <a:cubicBezTo>
                    <a:pt x="65151" y="778637"/>
                    <a:pt x="0" y="713613"/>
                    <a:pt x="0" y="633349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660454" y="6028249"/>
            <a:ext cx="4143385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Location 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60454" y="6517272"/>
            <a:ext cx="8648395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Embeds latitude and longitude via Google Play Services Location API directly into the SOS packet.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51410" y="7815120"/>
            <a:ext cx="583997" cy="584016"/>
            <a:chOff x="0" y="0"/>
            <a:chExt cx="778662" cy="7786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8637" cy="778764"/>
            </a:xfrm>
            <a:custGeom>
              <a:avLst/>
              <a:gdLst/>
              <a:ahLst/>
              <a:cxnLst/>
              <a:rect r="r" b="b" t="t" l="l"/>
              <a:pathLst>
                <a:path h="778764" w="778637">
                  <a:moveTo>
                    <a:pt x="0" y="145415"/>
                  </a:moveTo>
                  <a:cubicBezTo>
                    <a:pt x="0" y="65151"/>
                    <a:pt x="65151" y="0"/>
                    <a:pt x="145415" y="0"/>
                  </a:cubicBezTo>
                  <a:lnTo>
                    <a:pt x="633222" y="0"/>
                  </a:lnTo>
                  <a:cubicBezTo>
                    <a:pt x="713486" y="0"/>
                    <a:pt x="778637" y="65151"/>
                    <a:pt x="778637" y="145415"/>
                  </a:cubicBezTo>
                  <a:lnTo>
                    <a:pt x="778637" y="633349"/>
                  </a:lnTo>
                  <a:cubicBezTo>
                    <a:pt x="778637" y="713613"/>
                    <a:pt x="713486" y="778764"/>
                    <a:pt x="633222" y="778764"/>
                  </a:cubicBezTo>
                  <a:lnTo>
                    <a:pt x="145415" y="778764"/>
                  </a:lnTo>
                  <a:cubicBezTo>
                    <a:pt x="65151" y="778637"/>
                    <a:pt x="0" y="713613"/>
                    <a:pt x="0" y="633349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8660454" y="7888567"/>
            <a:ext cx="3411188" cy="41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47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Visual Indicators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60454" y="8377580"/>
            <a:ext cx="8648395" cy="842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Color-coded markers — </a:t>
            </a:r>
            <a:r>
              <a:rPr lang="en-US" sz="19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Red = Trapped/Danger</a:t>
            </a: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1951" b="true">
                <a:solidFill>
                  <a:srgbClr val="333F7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Green = Safe/Assisting</a:t>
            </a:r>
            <a:r>
              <a:rPr lang="en-US" sz="19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 — rendered on the offline map.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197540"/>
            <a:ext cx="13292223" cy="70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2"/>
              </a:lnSpc>
            </a:pPr>
            <a:r>
              <a:rPr lang="en-US" sz="412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The Bridge to Authorities: Cloud Sync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991" y="2637653"/>
            <a:ext cx="5923674" cy="5923817"/>
            <a:chOff x="0" y="0"/>
            <a:chExt cx="7898232" cy="7898422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898257" cy="7898384"/>
            </a:xfrm>
            <a:custGeom>
              <a:avLst/>
              <a:gdLst/>
              <a:ahLst/>
              <a:cxnLst/>
              <a:rect r="r" b="b" t="t" l="l"/>
              <a:pathLst>
                <a:path h="7898384" w="7898257">
                  <a:moveTo>
                    <a:pt x="0" y="0"/>
                  </a:moveTo>
                  <a:lnTo>
                    <a:pt x="7898257" y="0"/>
                  </a:lnTo>
                  <a:lnTo>
                    <a:pt x="7898257" y="7898384"/>
                  </a:lnTo>
                  <a:lnTo>
                    <a:pt x="0" y="78983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420054" y="2319509"/>
            <a:ext cx="425520" cy="266014"/>
            <a:chOff x="0" y="0"/>
            <a:chExt cx="567360" cy="3546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7365" cy="354687"/>
            </a:xfrm>
            <a:custGeom>
              <a:avLst/>
              <a:gdLst/>
              <a:ahLst/>
              <a:cxnLst/>
              <a:rect r="r" b="b" t="t" l="l"/>
              <a:pathLst>
                <a:path h="354687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354687"/>
                  </a:lnTo>
                  <a:lnTo>
                    <a:pt x="0" y="354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8" t="0" r="-30207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67360" cy="373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333F70"/>
                  </a:solidFill>
                  <a:latin typeface="Arimo"/>
                  <a:ea typeface="Arimo"/>
                  <a:cs typeface="Arimo"/>
                  <a:sym typeface="Arimo"/>
                </a:rPr>
                <a:t>01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20054" y="2652551"/>
            <a:ext cx="7898330" cy="28594"/>
            <a:chOff x="0" y="0"/>
            <a:chExt cx="10531107" cy="3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31094" cy="38100"/>
            </a:xfrm>
            <a:custGeom>
              <a:avLst/>
              <a:gdLst/>
              <a:ahLst/>
              <a:cxnLst/>
              <a:rect r="r" b="b" t="t" l="l"/>
              <a:pathLst>
                <a:path h="38100" w="10531094">
                  <a:moveTo>
                    <a:pt x="0" y="0"/>
                  </a:moveTo>
                  <a:lnTo>
                    <a:pt x="10531094" y="0"/>
                  </a:lnTo>
                  <a:lnTo>
                    <a:pt x="105310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420054" y="2797045"/>
            <a:ext cx="4342667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Someone Leaves the Zone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20054" y="3269961"/>
            <a:ext cx="7898330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 user with the app exits the disaster area and connects to Wi-Fi or cellular.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20054" y="3924986"/>
            <a:ext cx="425520" cy="266014"/>
            <a:chOff x="0" y="0"/>
            <a:chExt cx="567360" cy="3546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7365" cy="354687"/>
            </a:xfrm>
            <a:custGeom>
              <a:avLst/>
              <a:gdLst/>
              <a:ahLst/>
              <a:cxnLst/>
              <a:rect r="r" b="b" t="t" l="l"/>
              <a:pathLst>
                <a:path h="354687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354687"/>
                  </a:lnTo>
                  <a:lnTo>
                    <a:pt x="0" y="354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8" t="0" r="-3020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67360" cy="373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333F70"/>
                  </a:solidFill>
                  <a:latin typeface="Arimo"/>
                  <a:ea typeface="Arimo"/>
                  <a:cs typeface="Arimo"/>
                  <a:sym typeface="Arimo"/>
                </a:rPr>
                <a:t>02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420054" y="4258027"/>
            <a:ext cx="7898330" cy="28594"/>
            <a:chOff x="0" y="0"/>
            <a:chExt cx="10531107" cy="381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31094" cy="38100"/>
            </a:xfrm>
            <a:custGeom>
              <a:avLst/>
              <a:gdLst/>
              <a:ahLst/>
              <a:cxnLst/>
              <a:rect r="r" b="b" t="t" l="l"/>
              <a:pathLst>
                <a:path h="38100" w="10531094">
                  <a:moveTo>
                    <a:pt x="0" y="0"/>
                  </a:moveTo>
                  <a:lnTo>
                    <a:pt x="10531094" y="0"/>
                  </a:lnTo>
                  <a:lnTo>
                    <a:pt x="105310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20054" y="4402512"/>
            <a:ext cx="5869905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SyncWorker.kt Detects Connection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20054" y="4875428"/>
            <a:ext cx="7898330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Background worker via WorkManager automatically detects the active network.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20054" y="5530453"/>
            <a:ext cx="425520" cy="266014"/>
            <a:chOff x="0" y="0"/>
            <a:chExt cx="567360" cy="3546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7365" cy="354687"/>
            </a:xfrm>
            <a:custGeom>
              <a:avLst/>
              <a:gdLst/>
              <a:ahLst/>
              <a:cxnLst/>
              <a:rect r="r" b="b" t="t" l="l"/>
              <a:pathLst>
                <a:path h="354687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354687"/>
                  </a:lnTo>
                  <a:lnTo>
                    <a:pt x="0" y="354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8" t="0" r="-3020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567360" cy="373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333F70"/>
                  </a:solidFill>
                  <a:latin typeface="Arimo"/>
                  <a:ea typeface="Arimo"/>
                  <a:cs typeface="Arimo"/>
                  <a:sym typeface="Arimo"/>
                </a:rPr>
                <a:t>03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20054" y="5863495"/>
            <a:ext cx="7898330" cy="28594"/>
            <a:chOff x="0" y="0"/>
            <a:chExt cx="10531107" cy="381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531094" cy="38100"/>
            </a:xfrm>
            <a:custGeom>
              <a:avLst/>
              <a:gdLst/>
              <a:ahLst/>
              <a:cxnLst/>
              <a:rect r="r" b="b" t="t" l="l"/>
              <a:pathLst>
                <a:path h="38100" w="10531094">
                  <a:moveTo>
                    <a:pt x="0" y="0"/>
                  </a:moveTo>
                  <a:lnTo>
                    <a:pt x="10531094" y="0"/>
                  </a:lnTo>
                  <a:lnTo>
                    <a:pt x="105310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420054" y="6007989"/>
            <a:ext cx="3414465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Firebase Integration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20054" y="6480905"/>
            <a:ext cx="7898330" cy="3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Automatically and silently uploads all cached SOS records to Firebase Firestore.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20054" y="7135930"/>
            <a:ext cx="425520" cy="266014"/>
            <a:chOff x="0" y="0"/>
            <a:chExt cx="567360" cy="35468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67365" cy="354687"/>
            </a:xfrm>
            <a:custGeom>
              <a:avLst/>
              <a:gdLst/>
              <a:ahLst/>
              <a:cxnLst/>
              <a:rect r="r" b="b" t="t" l="l"/>
              <a:pathLst>
                <a:path h="354687" w="567365">
                  <a:moveTo>
                    <a:pt x="0" y="0"/>
                  </a:moveTo>
                  <a:lnTo>
                    <a:pt x="567365" y="0"/>
                  </a:lnTo>
                  <a:lnTo>
                    <a:pt x="567365" y="354687"/>
                  </a:lnTo>
                  <a:lnTo>
                    <a:pt x="0" y="35468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0208" t="0" r="-3020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67360" cy="373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>
                  <a:solidFill>
                    <a:srgbClr val="333F70"/>
                  </a:solidFill>
                  <a:latin typeface="Arimo"/>
                  <a:ea typeface="Arimo"/>
                  <a:cs typeface="Arimo"/>
                  <a:sym typeface="Arimo"/>
                </a:rPr>
                <a:t>04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20054" y="7468972"/>
            <a:ext cx="7898330" cy="28594"/>
            <a:chOff x="0" y="0"/>
            <a:chExt cx="10531107" cy="381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31094" cy="38100"/>
            </a:xfrm>
            <a:custGeom>
              <a:avLst/>
              <a:gdLst/>
              <a:ahLst/>
              <a:cxnLst/>
              <a:rect r="r" b="b" t="t" l="l"/>
              <a:pathLst>
                <a:path h="38100" w="10531094">
                  <a:moveTo>
                    <a:pt x="0" y="0"/>
                  </a:moveTo>
                  <a:lnTo>
                    <a:pt x="10531094" y="0"/>
                  </a:lnTo>
                  <a:lnTo>
                    <a:pt x="105310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6A688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420054" y="7613466"/>
            <a:ext cx="3648456" cy="351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Impact on Authorities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20054" y="8086373"/>
            <a:ext cx="7898330" cy="63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5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Provides remote authorities (NDRF, FEMA, etc.) a sudden, comprehensive view of the disaster area's status.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7494" y="785422"/>
            <a:ext cx="14092333" cy="78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7"/>
              </a:lnSpc>
            </a:pPr>
            <a:r>
              <a:rPr lang="en-US" sz="4653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Current Limitations &amp; Future Scope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7494" y="2460565"/>
            <a:ext cx="6413535" cy="6413697"/>
            <a:chOff x="0" y="0"/>
            <a:chExt cx="8551380" cy="8551596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551418" cy="8551545"/>
            </a:xfrm>
            <a:custGeom>
              <a:avLst/>
              <a:gdLst/>
              <a:ahLst/>
              <a:cxnLst/>
              <a:rect r="r" b="b" t="t" l="l"/>
              <a:pathLst>
                <a:path h="8551545" w="8551418">
                  <a:moveTo>
                    <a:pt x="0" y="0"/>
                  </a:moveTo>
                  <a:lnTo>
                    <a:pt x="8551418" y="0"/>
                  </a:lnTo>
                  <a:lnTo>
                    <a:pt x="8551418" y="8551545"/>
                  </a:lnTo>
                  <a:lnTo>
                    <a:pt x="0" y="8551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111453" y="2042798"/>
            <a:ext cx="5046116" cy="40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⚠️</a:t>
            </a: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Current Limitations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082859" y="2675344"/>
            <a:ext cx="4040467" cy="2867930"/>
          </a:xfrm>
          <a:custGeom>
            <a:avLst/>
            <a:gdLst/>
            <a:ahLst/>
            <a:cxnLst/>
            <a:rect r="r" b="b" t="t" l="l"/>
            <a:pathLst>
              <a:path h="2867930" w="4040467">
                <a:moveTo>
                  <a:pt x="0" y="0"/>
                </a:moveTo>
                <a:lnTo>
                  <a:pt x="4040467" y="0"/>
                </a:lnTo>
                <a:lnTo>
                  <a:pt x="4040467" y="2867930"/>
                </a:lnTo>
                <a:lnTo>
                  <a:pt x="0" y="2867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" r="0" b="-5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463249" y="2912783"/>
            <a:ext cx="3394062" cy="77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Hardware Dependency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63249" y="3843842"/>
            <a:ext cx="3394062" cy="143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Reliability depends heavily on the physical quality of the device's Bluetooth/Wi-Fi radios.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3293261" y="2675344"/>
            <a:ext cx="4040467" cy="2867930"/>
          </a:xfrm>
          <a:custGeom>
            <a:avLst/>
            <a:gdLst/>
            <a:ahLst/>
            <a:cxnLst/>
            <a:rect r="r" b="b" t="t" l="l"/>
            <a:pathLst>
              <a:path h="2867930" w="4040467">
                <a:moveTo>
                  <a:pt x="0" y="0"/>
                </a:moveTo>
                <a:lnTo>
                  <a:pt x="4040467" y="0"/>
                </a:lnTo>
                <a:lnTo>
                  <a:pt x="4040467" y="2867930"/>
                </a:lnTo>
                <a:lnTo>
                  <a:pt x="0" y="2867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" r="0" b="-55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673652" y="2912783"/>
            <a:ext cx="3394062" cy="77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Battery Consumption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73652" y="3843842"/>
            <a:ext cx="3394062" cy="108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Continuous advertising and discovery drain the battery faster.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11453" y="5738108"/>
            <a:ext cx="3882733" cy="40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🔭</a:t>
            </a: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Future Scope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082859" y="6370653"/>
            <a:ext cx="4040467" cy="2867930"/>
          </a:xfrm>
          <a:custGeom>
            <a:avLst/>
            <a:gdLst/>
            <a:ahLst/>
            <a:cxnLst/>
            <a:rect r="r" b="b" t="t" l="l"/>
            <a:pathLst>
              <a:path h="2867930" w="4040467">
                <a:moveTo>
                  <a:pt x="0" y="0"/>
                </a:moveTo>
                <a:lnTo>
                  <a:pt x="4040467" y="0"/>
                </a:lnTo>
                <a:lnTo>
                  <a:pt x="4040467" y="2867930"/>
                </a:lnTo>
                <a:lnTo>
                  <a:pt x="0" y="2867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" r="0" b="-55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463249" y="6608093"/>
            <a:ext cx="3394062" cy="77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Duty-Cycling Algorithms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63249" y="7539152"/>
            <a:ext cx="3394062" cy="1084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Implement smart sleep/wake cycles to drastically preserve battery life.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13293261" y="6370653"/>
            <a:ext cx="4040467" cy="2867930"/>
          </a:xfrm>
          <a:custGeom>
            <a:avLst/>
            <a:gdLst/>
            <a:ahLst/>
            <a:cxnLst/>
            <a:rect r="r" b="b" t="t" l="l"/>
            <a:pathLst>
              <a:path h="2867930" w="4040467">
                <a:moveTo>
                  <a:pt x="0" y="0"/>
                </a:moveTo>
                <a:lnTo>
                  <a:pt x="4040467" y="0"/>
                </a:lnTo>
                <a:lnTo>
                  <a:pt x="4040467" y="2867930"/>
                </a:lnTo>
                <a:lnTo>
                  <a:pt x="0" y="2867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55" r="0" b="-55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673652" y="6608093"/>
            <a:ext cx="3394062" cy="77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326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Cross-Platform Support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73652" y="7539152"/>
            <a:ext cx="3394062" cy="143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1801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Develop an iOS counterpart using Apple's Multipeer Connectivity to increase mesh network density.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789" y="212693"/>
            <a:ext cx="6579603" cy="9869653"/>
            <a:chOff x="0" y="0"/>
            <a:chExt cx="8772804" cy="1315953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72779" cy="13159487"/>
            </a:xfrm>
            <a:custGeom>
              <a:avLst/>
              <a:gdLst/>
              <a:ahLst/>
              <a:cxnLst/>
              <a:rect r="r" b="b" t="t" l="l"/>
              <a:pathLst>
                <a:path h="13159487" w="8772779">
                  <a:moveTo>
                    <a:pt x="0" y="0"/>
                  </a:moveTo>
                  <a:lnTo>
                    <a:pt x="8772779" y="0"/>
                  </a:lnTo>
                  <a:lnTo>
                    <a:pt x="8772779" y="13159487"/>
                  </a:lnTo>
                  <a:lnTo>
                    <a:pt x="0" y="1315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1272178"/>
            <a:ext cx="8008696" cy="94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851410" y="2636768"/>
            <a:ext cx="4593927" cy="3932282"/>
            <a:chOff x="0" y="0"/>
            <a:chExt cx="6125235" cy="52430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25210" cy="5243068"/>
            </a:xfrm>
            <a:custGeom>
              <a:avLst/>
              <a:gdLst/>
              <a:ahLst/>
              <a:cxnLst/>
              <a:rect r="r" b="b" t="t" l="l"/>
              <a:pathLst>
                <a:path h="5243068" w="6125210">
                  <a:moveTo>
                    <a:pt x="0" y="159258"/>
                  </a:moveTo>
                  <a:cubicBezTo>
                    <a:pt x="0" y="71374"/>
                    <a:pt x="71374" y="0"/>
                    <a:pt x="159258" y="0"/>
                  </a:cubicBezTo>
                  <a:lnTo>
                    <a:pt x="5965952" y="0"/>
                  </a:lnTo>
                  <a:cubicBezTo>
                    <a:pt x="6053963" y="0"/>
                    <a:pt x="6125210" y="71374"/>
                    <a:pt x="6125210" y="159258"/>
                  </a:cubicBezTo>
                  <a:lnTo>
                    <a:pt x="6125210" y="5083810"/>
                  </a:lnTo>
                  <a:cubicBezTo>
                    <a:pt x="6125210" y="5171821"/>
                    <a:pt x="6053836" y="5243068"/>
                    <a:pt x="5965952" y="5243068"/>
                  </a:cubicBezTo>
                  <a:lnTo>
                    <a:pt x="159258" y="5243068"/>
                  </a:lnTo>
                  <a:cubicBezTo>
                    <a:pt x="71374" y="5243068"/>
                    <a:pt x="0" y="5171694"/>
                    <a:pt x="0" y="5083810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8149438" y="2906230"/>
            <a:ext cx="3997871" cy="924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✅</a:t>
            </a: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Proven Viability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49438" y="3924900"/>
            <a:ext cx="3997871" cy="234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Lifeline successfully demonstrates that off-grid communication is viable using standard consumer hardware.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719542" y="2636768"/>
            <a:ext cx="4594079" cy="3932282"/>
            <a:chOff x="0" y="0"/>
            <a:chExt cx="6125439" cy="52430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5464" cy="5243068"/>
            </a:xfrm>
            <a:custGeom>
              <a:avLst/>
              <a:gdLst/>
              <a:ahLst/>
              <a:cxnLst/>
              <a:rect r="r" b="b" t="t" l="l"/>
              <a:pathLst>
                <a:path h="5243068" w="6125464">
                  <a:moveTo>
                    <a:pt x="0" y="159258"/>
                  </a:moveTo>
                  <a:cubicBezTo>
                    <a:pt x="0" y="71374"/>
                    <a:pt x="71374" y="0"/>
                    <a:pt x="159258" y="0"/>
                  </a:cubicBezTo>
                  <a:lnTo>
                    <a:pt x="5966206" y="0"/>
                  </a:lnTo>
                  <a:cubicBezTo>
                    <a:pt x="6054217" y="0"/>
                    <a:pt x="6125464" y="71374"/>
                    <a:pt x="6125464" y="159258"/>
                  </a:cubicBezTo>
                  <a:lnTo>
                    <a:pt x="6125464" y="5083810"/>
                  </a:lnTo>
                  <a:cubicBezTo>
                    <a:pt x="6125464" y="5171821"/>
                    <a:pt x="6054090" y="5243068"/>
                    <a:pt x="5966206" y="5243068"/>
                  </a:cubicBezTo>
                  <a:lnTo>
                    <a:pt x="159258" y="5243068"/>
                  </a:lnTo>
                  <a:cubicBezTo>
                    <a:pt x="71374" y="5243068"/>
                    <a:pt x="0" y="5171694"/>
                    <a:pt x="0" y="5083810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017570" y="2906230"/>
            <a:ext cx="3909098" cy="4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🔄</a:t>
            </a: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Paradigm Shift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17570" y="3481635"/>
            <a:ext cx="3998014" cy="234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Shifts the paradigm from reliance on fragile centralized infrastructure to resilient, decentralized peer-to-peer networks.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51410" y="6843255"/>
            <a:ext cx="9462211" cy="2127075"/>
            <a:chOff x="0" y="0"/>
            <a:chExt cx="12616282" cy="2836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16307" cy="2836164"/>
            </a:xfrm>
            <a:custGeom>
              <a:avLst/>
              <a:gdLst/>
              <a:ahLst/>
              <a:cxnLst/>
              <a:rect r="r" b="b" t="t" l="l"/>
              <a:pathLst>
                <a:path h="2836164" w="1261630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56668" y="0"/>
                  </a:lnTo>
                  <a:cubicBezTo>
                    <a:pt x="12544806" y="0"/>
                    <a:pt x="12616307" y="71501"/>
                    <a:pt x="12616307" y="159639"/>
                  </a:cubicBezTo>
                  <a:lnTo>
                    <a:pt x="12616307" y="2676525"/>
                  </a:lnTo>
                  <a:cubicBezTo>
                    <a:pt x="12616307" y="2764663"/>
                    <a:pt x="12544806" y="2836164"/>
                    <a:pt x="12456668" y="2836164"/>
                  </a:cubicBezTo>
                  <a:lnTo>
                    <a:pt x="159639" y="2836164"/>
                  </a:lnTo>
                  <a:cubicBezTo>
                    <a:pt x="71501" y="2836164"/>
                    <a:pt x="0" y="2764663"/>
                    <a:pt x="0" y="267652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8149438" y="7112718"/>
            <a:ext cx="3546729" cy="4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⏱️</a:t>
            </a: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 Golden Hours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49438" y="7688123"/>
            <a:ext cx="8866146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Proves to be a crucial tool for saving lives during the critical 'golden hours' following a disaster.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1789" y="212693"/>
            <a:ext cx="6579603" cy="9869653"/>
            <a:chOff x="0" y="0"/>
            <a:chExt cx="8772804" cy="1315953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72779" cy="13159487"/>
            </a:xfrm>
            <a:custGeom>
              <a:avLst/>
              <a:gdLst/>
              <a:ahLst/>
              <a:cxnLst/>
              <a:rect r="r" b="b" t="t" l="l"/>
              <a:pathLst>
                <a:path h="13159487" w="8772779">
                  <a:moveTo>
                    <a:pt x="0" y="0"/>
                  </a:moveTo>
                  <a:lnTo>
                    <a:pt x="8772779" y="0"/>
                  </a:lnTo>
                  <a:lnTo>
                    <a:pt x="8772779" y="13159487"/>
                  </a:lnTo>
                  <a:lnTo>
                    <a:pt x="0" y="1315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56182" y="2058191"/>
            <a:ext cx="10367762" cy="1868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3"/>
              </a:lnSpc>
            </a:pPr>
            <a:r>
              <a:rPr lang="en-US" sz="11108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6182" y="4276258"/>
            <a:ext cx="9452677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We appreciate your time and attention. Lifeline represents our commitment to building technology that serves humanity in its most vulnerable moments.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851410" y="6028830"/>
            <a:ext cx="9462211" cy="2117541"/>
            <a:chOff x="0" y="0"/>
            <a:chExt cx="12616282" cy="28233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16307" cy="2823464"/>
            </a:xfrm>
            <a:custGeom>
              <a:avLst/>
              <a:gdLst/>
              <a:ahLst/>
              <a:cxnLst/>
              <a:rect r="r" b="b" t="t" l="l"/>
              <a:pathLst>
                <a:path h="2823464" w="12616307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12456668" y="0"/>
                  </a:lnTo>
                  <a:cubicBezTo>
                    <a:pt x="12544806" y="0"/>
                    <a:pt x="12616307" y="71501"/>
                    <a:pt x="12616307" y="159639"/>
                  </a:cubicBezTo>
                  <a:lnTo>
                    <a:pt x="12616307" y="2663825"/>
                  </a:lnTo>
                  <a:cubicBezTo>
                    <a:pt x="12616307" y="2751963"/>
                    <a:pt x="12544806" y="2823464"/>
                    <a:pt x="12456668" y="2823464"/>
                  </a:cubicBezTo>
                  <a:lnTo>
                    <a:pt x="159639" y="2823464"/>
                  </a:lnTo>
                  <a:cubicBezTo>
                    <a:pt x="71501" y="2823337"/>
                    <a:pt x="0" y="2751963"/>
                    <a:pt x="0" y="2663825"/>
                  </a:cubicBezTo>
                  <a:close/>
                </a:path>
              </a:pathLst>
            </a:custGeom>
            <a:solidFill>
              <a:srgbClr val="D6F5EE"/>
            </a:solidFill>
            <a:ln w="9532" cap="sq">
              <a:solidFill>
                <a:srgbClr val="BCDBD4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7865707" y="6043127"/>
            <a:ext cx="4716809" cy="2088947"/>
            <a:chOff x="0" y="0"/>
            <a:chExt cx="6289078" cy="27852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89040" cy="2785237"/>
            </a:xfrm>
            <a:custGeom>
              <a:avLst/>
              <a:gdLst/>
              <a:ahLst/>
              <a:cxnLst/>
              <a:rect r="r" b="b" t="t" l="l"/>
              <a:pathLst>
                <a:path h="2785237" w="6289040">
                  <a:moveTo>
                    <a:pt x="0" y="158877"/>
                  </a:moveTo>
                  <a:cubicBezTo>
                    <a:pt x="0" y="71120"/>
                    <a:pt x="71120" y="0"/>
                    <a:pt x="158877" y="0"/>
                  </a:cubicBezTo>
                  <a:lnTo>
                    <a:pt x="6130163" y="0"/>
                  </a:lnTo>
                  <a:cubicBezTo>
                    <a:pt x="6217920" y="0"/>
                    <a:pt x="6289040" y="71120"/>
                    <a:pt x="6289040" y="158877"/>
                  </a:cubicBezTo>
                  <a:lnTo>
                    <a:pt x="6289040" y="2626360"/>
                  </a:lnTo>
                  <a:cubicBezTo>
                    <a:pt x="6289040" y="2714117"/>
                    <a:pt x="6217920" y="2785237"/>
                    <a:pt x="6130163" y="2785237"/>
                  </a:cubicBezTo>
                  <a:lnTo>
                    <a:pt x="158877" y="2785237"/>
                  </a:lnTo>
                  <a:cubicBezTo>
                    <a:pt x="71120" y="2785237"/>
                    <a:pt x="0" y="2714117"/>
                    <a:pt x="0" y="2626360"/>
                  </a:cubicBezTo>
                  <a:close/>
                </a:path>
              </a:pathLst>
            </a:custGeom>
            <a:solidFill>
              <a:srgbClr val="D6F5E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149438" y="6298292"/>
            <a:ext cx="3546729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Lifeline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49438" y="6864163"/>
            <a:ext cx="4149338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Offline Peer-to-Peer Emergency SOS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82515" y="6043127"/>
            <a:ext cx="4716809" cy="2088947"/>
            <a:chOff x="0" y="0"/>
            <a:chExt cx="6289078" cy="27852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89040" cy="2785237"/>
            </a:xfrm>
            <a:custGeom>
              <a:avLst/>
              <a:gdLst/>
              <a:ahLst/>
              <a:cxnLst/>
              <a:rect r="r" b="b" t="t" l="l"/>
              <a:pathLst>
                <a:path h="2785237" w="6289040">
                  <a:moveTo>
                    <a:pt x="0" y="0"/>
                  </a:moveTo>
                  <a:lnTo>
                    <a:pt x="6289040" y="0"/>
                  </a:lnTo>
                  <a:lnTo>
                    <a:pt x="6289040" y="2785237"/>
                  </a:lnTo>
                  <a:lnTo>
                    <a:pt x="0" y="2785237"/>
                  </a:lnTo>
                  <a:close/>
                </a:path>
              </a:pathLst>
            </a:custGeom>
            <a:solidFill>
              <a:srgbClr val="D6F5EE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582515" y="6043127"/>
            <a:ext cx="38129" cy="2088947"/>
            <a:chOff x="0" y="0"/>
            <a:chExt cx="50838" cy="27852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" cy="2785237"/>
            </a:xfrm>
            <a:custGeom>
              <a:avLst/>
              <a:gdLst/>
              <a:ahLst/>
              <a:cxnLst/>
              <a:rect r="r" b="b" t="t" l="l"/>
              <a:pathLst>
                <a:path h="2785237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759837"/>
                  </a:lnTo>
                  <a:cubicBezTo>
                    <a:pt x="50800" y="2773934"/>
                    <a:pt x="39370" y="2785237"/>
                    <a:pt x="25400" y="2785237"/>
                  </a:cubicBezTo>
                  <a:cubicBezTo>
                    <a:pt x="11430" y="2785237"/>
                    <a:pt x="0" y="2773807"/>
                    <a:pt x="0" y="2759837"/>
                  </a:cubicBezTo>
                  <a:close/>
                </a:path>
              </a:pathLst>
            </a:custGeom>
            <a:solidFill>
              <a:srgbClr val="BCDBD4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66246" y="6298292"/>
            <a:ext cx="3546729" cy="47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333F70"/>
                </a:solidFill>
                <a:latin typeface="Arimo Bold"/>
                <a:ea typeface="Arimo Bold"/>
                <a:cs typeface="Arimo Bold"/>
                <a:sym typeface="Arimo Bold"/>
              </a:rPr>
              <a:t>Decentralized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66246" y="6864163"/>
            <a:ext cx="4149338" cy="984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rPr>
              <a:t>Mesh Network for Disaster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DAHL0pCSCeI</dc:identifier>
  <dcterms:modified xsi:type="dcterms:W3CDTF">2011-08-01T06:04:30Z</dcterms:modified>
  <cp:revision>1</cp:revision>
  <dc:title>Offline-Peer-to-Peer-Emergency-SOS.pptx</dc:title>
</cp:coreProperties>
</file>